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-82" y="-28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097280"/>
            <a:ext cx="4114800" cy="41148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2743200" cy="27432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822960"/>
            <a:ext cx="64008" cy="3291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7724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7772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+mj-ea"/>
                <a:ea typeface="+mj-ea"/>
              </a:rPr>
              <a:t>FITI 전략구매팀</a:t>
            </a:r>
            <a:endParaRPr lang="en-US" sz="1050" b="1"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" y="1261872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화환 배송</a:t>
            </a:r>
            <a:endParaRPr lang="en-US" sz="4400" dirty="0">
              <a:latin typeface="+mj-ea"/>
              <a:ea typeface="+mj-ea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관리 시스템</a:t>
            </a:r>
            <a:endParaRPr lang="en-US" sz="4400" dirty="0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3127248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운영 메뉴얼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3730752"/>
            <a:ext cx="4114800" cy="0"/>
          </a:xfrm>
          <a:prstGeom prst="line">
            <a:avLst/>
          </a:prstGeom>
          <a:noFill/>
          <a:ln w="12700">
            <a:solidFill>
              <a:srgbClr val="1A3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858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64748B"/>
                </a:solidFill>
              </a:rPr>
              <a:t>버전</a:t>
            </a:r>
            <a:r>
              <a:rPr lang="en-US" sz="950" dirty="0">
                <a:solidFill>
                  <a:srgbClr val="64748B"/>
                </a:solidFill>
              </a:rPr>
              <a:t>  </a:t>
            </a:r>
            <a:r>
              <a:rPr lang="en-US" sz="950" dirty="0" smtClean="0">
                <a:solidFill>
                  <a:srgbClr val="64748B"/>
                </a:solidFill>
              </a:rPr>
              <a:t>20260612v1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8368" y="41330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 smtClean="0">
                <a:solidFill>
                  <a:srgbClr val="60A5FA"/>
                </a:solidFill>
              </a:rPr>
              <a:t>https://flower-delivery-dashboard.vercel.app/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92240" y="10972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0F1F3D"/>
          </a:solidFill>
          <a:ln w="10160">
            <a:solidFill>
              <a:srgbClr val="1A3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097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사용 방법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2029968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0F1F3D"/>
          </a:solidFill>
          <a:ln w="10160">
            <a:solidFill>
              <a:srgbClr val="1A3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02996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업무 흐름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2962656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0F1F3D"/>
          </a:solidFill>
          <a:ln w="10160">
            <a:solidFill>
              <a:srgbClr val="1A3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962656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주의 사항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92240" y="3895344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0F1F3D"/>
          </a:solidFill>
          <a:ln w="10160">
            <a:solidFill>
              <a:srgbClr val="1A3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89534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문제 대처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85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15568" y="256032"/>
            <a:ext cx="0" cy="47548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0"/>
            <a:ext cx="76809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메뉴얼을 읽기 전에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1097280"/>
            <a:ext cx="4069080" cy="3886200"/>
          </a:xfrm>
          <a:prstGeom prst="roundRect">
            <a:avLst>
              <a:gd name="adj" fmla="val 329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94A3B8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097280"/>
            <a:ext cx="4069080" cy="438912"/>
          </a:xfrm>
          <a:prstGeom prst="roundRect">
            <a:avLst>
              <a:gd name="adj" fmla="val 29167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97280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📑  목차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" y="173736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73736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171907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버튼 기능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084832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212848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21284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68680" y="219456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시나리오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2560320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2688336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68833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68680" y="267004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배송 안내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" y="3035808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3163824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16382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68680" y="314553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기능 &amp; 주의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" y="3511296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3639312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63931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68680" y="362102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 감지 시스템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4048" y="3986784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411480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1148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06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68680" y="409651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발생 시 대처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84048" y="4462272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" y="4590288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459028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07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68680" y="457200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전 체크리스트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53712" y="1097280"/>
            <a:ext cx="4343400" cy="3886200"/>
          </a:xfrm>
          <a:prstGeom prst="roundRect">
            <a:avLst>
              <a:gd name="adj" fmla="val 329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94A3B8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53712" y="1097280"/>
            <a:ext cx="4343400" cy="438912"/>
          </a:xfrm>
          <a:prstGeom prst="roundRect">
            <a:avLst>
              <a:gd name="adj" fmla="val 29167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1097280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🔖  이 메뉴얼의 표시 약속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81728" y="1691640"/>
            <a:ext cx="4069080" cy="530352"/>
          </a:xfrm>
          <a:prstGeom prst="roundRect">
            <a:avLst>
              <a:gd name="adj" fmla="val 13793"/>
            </a:avLst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172821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212080" y="172821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212080" y="1947672"/>
            <a:ext cx="3401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반드시 확인해야 하는 경고 사항입니다.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81728" y="2350008"/>
            <a:ext cx="4069080" cy="530352"/>
          </a:xfrm>
          <a:prstGeom prst="roundRect">
            <a:avLst>
              <a:gd name="adj" fmla="val 13793"/>
            </a:avLst>
          </a:prstGeom>
          <a:solidFill>
            <a:srgbClr val="FEE2E2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238658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212080" y="238658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금지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212080" y="2606040"/>
            <a:ext cx="3401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절대 해서는 안 되는 행동입니다.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81728" y="3008376"/>
            <a:ext cx="4069080" cy="530352"/>
          </a:xfrm>
          <a:prstGeom prst="roundRect">
            <a:avLst>
              <a:gd name="adj" fmla="val 13793"/>
            </a:avLst>
          </a:prstGeom>
          <a:solidFill>
            <a:srgbClr val="DCFCE7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36592" y="304495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212080" y="30449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팁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212080" y="3264408"/>
            <a:ext cx="3401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알아두면 유용한 추가 정보입니다.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681728" y="3666744"/>
            <a:ext cx="4069080" cy="530352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36592" y="37033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ℹ️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5212080" y="3703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212080" y="3922776"/>
            <a:ext cx="3401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흐름 이해에 도움이 되는 내용입니다.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81728" y="4325112"/>
            <a:ext cx="4069080" cy="530352"/>
          </a:xfrm>
          <a:prstGeom prst="roundRect">
            <a:avLst>
              <a:gd name="adj" fmla="val 13793"/>
            </a:avLst>
          </a:prstGeom>
          <a:solidFill>
            <a:srgbClr val="DCFCE7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36592" y="43616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5212080" y="43616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212080" y="4581144"/>
            <a:ext cx="3401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확인이 필요한 항목입니다.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85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15568" y="256032"/>
            <a:ext cx="0" cy="47548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0"/>
            <a:ext cx="76809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버튼 기능 요약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1572768" cy="36576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115568"/>
            <a:ext cx="1572768" cy="1234440"/>
          </a:xfrm>
          <a:prstGeom prst="roundRect">
            <a:avLst>
              <a:gd name="adj" fmla="val 1037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26187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➕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30352" y="1965960"/>
            <a:ext cx="1024128" cy="23774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96596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필수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9184" y="2304288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등록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" y="2743200"/>
            <a:ext cx="1115568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834640"/>
            <a:ext cx="13898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화환 신청 건을 목록에 추가합니다.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 후 </a:t>
            </a:r>
            <a:r>
              <a:rPr lang="en-US" sz="95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반드시</a:t>
            </a:r>
            <a:r>
              <a:rPr lang="en-US" sz="9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9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 저장]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눌러야 서버에 반영됩니다.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993392" y="1115568"/>
            <a:ext cx="1572768" cy="36576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93392" y="1115568"/>
            <a:ext cx="1572768" cy="1234440"/>
          </a:xfrm>
          <a:prstGeom prst="roundRect">
            <a:avLst>
              <a:gd name="adj" fmla="val 1037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22576" y="126187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💾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2267712" y="1965960"/>
            <a:ext cx="1024128" cy="23774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67712" y="196596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핵심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066544" y="2304288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 저장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21992" y="2743200"/>
            <a:ext cx="1115568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84832" y="2834640"/>
            <a:ext cx="13898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현재의 모든 수정사항을 서버에 최종 반영합니다.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저장 후 이 버튼을 눌러야 진짜 저장입니다.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30752" y="1115568"/>
            <a:ext cx="1572768" cy="36576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30752" y="1115568"/>
            <a:ext cx="1572768" cy="1234440"/>
          </a:xfrm>
          <a:prstGeom prst="roundRect">
            <a:avLst>
              <a:gd name="adj" fmla="val 1037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9936" y="126187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🔄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4005072" y="1965960"/>
            <a:ext cx="1024128" cy="23774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05072" y="196596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동기화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03904" y="2304288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새로고침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959352" y="2743200"/>
            <a:ext cx="1115568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22192" y="2834640"/>
            <a:ext cx="13898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서버에 저장된 최신 데이터를 </a:t>
            </a:r>
            <a:r>
              <a:rPr lang="en-US" sz="9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다시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불러옵니다</a:t>
            </a:r>
            <a:r>
              <a:rPr lang="en-US" sz="9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 smtClean="0"/>
          </a:p>
          <a:p>
            <a:pPr marL="0" indent="0" algn="ctr">
              <a:buNone/>
            </a:pPr>
            <a:r>
              <a:rPr lang="en-US" sz="95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</a:t>
            </a:r>
            <a:r>
              <a:rPr lang="en-US" sz="9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 전 항상 먼저 눌러주세요.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68112" y="1115568"/>
            <a:ext cx="1572768" cy="36576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68112" y="1115568"/>
            <a:ext cx="1572768" cy="1234440"/>
          </a:xfrm>
          <a:prstGeom prst="roundRect">
            <a:avLst>
              <a:gd name="adj" fmla="val 1037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97296" y="126187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📥</a:t>
            </a:r>
            <a:endParaRPr lang="en-US" sz="3000" dirty="0"/>
          </a:p>
        </p:txBody>
      </p:sp>
      <p:sp>
        <p:nvSpPr>
          <p:cNvPr id="34" name="Shape 32"/>
          <p:cNvSpPr/>
          <p:nvPr/>
        </p:nvSpPr>
        <p:spPr>
          <a:xfrm>
            <a:off x="5742432" y="1965960"/>
            <a:ext cx="1024128" cy="23774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42432" y="196596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로그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541264" y="2304288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변경이력 다운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696712" y="2743200"/>
            <a:ext cx="1115568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59552" y="2834640"/>
            <a:ext cx="13898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수정·삭제된 모든 이력을 엑셀로 저장합니다.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추적 및 작업 내역 확인에 활용하세요.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205472" y="1115568"/>
            <a:ext cx="1572768" cy="36576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205472" y="1115568"/>
            <a:ext cx="1572768" cy="1234440"/>
          </a:xfrm>
          <a:prstGeom prst="roundRect">
            <a:avLst>
              <a:gd name="adj" fmla="val 10370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34656" y="126187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🔒</a:t>
            </a:r>
            <a:endParaRPr lang="en-US" sz="3000" dirty="0"/>
          </a:p>
        </p:txBody>
      </p:sp>
      <p:sp>
        <p:nvSpPr>
          <p:cNvPr id="42" name="Shape 40"/>
          <p:cNvSpPr/>
          <p:nvPr/>
        </p:nvSpPr>
        <p:spPr>
          <a:xfrm>
            <a:off x="7479792" y="1965960"/>
            <a:ext cx="1024128" cy="237744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79792" y="196596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종료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278624" y="2304288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로그아웃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434072" y="2743200"/>
            <a:ext cx="1115568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96912" y="2834640"/>
            <a:ext cx="13898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세션을 닫습니다.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접속 시 최신 서버 데이터를 자동으로 불러옵니다.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56032" y="4828032"/>
            <a:ext cx="8631936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0624" y="4828032"/>
            <a:ext cx="8430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상세 패널 [저장]은 브라우저 임시 보관입니다. 반드시 메인 </a:t>
            </a: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[현황 저장]</a:t>
            </a: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까지 눌러야 서버 DB에 최종 반영됩니다.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85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15568" y="256032"/>
            <a:ext cx="0" cy="475488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0"/>
            <a:ext cx="76809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시나리오 — 신규 화환 등록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화환 등록 전체 흐름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0" y="1572768"/>
            <a:ext cx="164592" cy="25603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9656" y="1536192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417320"/>
            <a:ext cx="157276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94A3B8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417320"/>
            <a:ext cx="1572768" cy="54864"/>
          </a:xfrm>
          <a:prstGeom prst="roundRect">
            <a:avLst>
              <a:gd name="adj" fmla="val 50000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" y="1508760"/>
            <a:ext cx="457200" cy="45720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0896" y="20574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" y="24688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9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 권장 입력 </a:t>
            </a:r>
            <a:r>
              <a:rPr lang="en-US" altLang="ko-KR" sz="9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</a:p>
          <a:p>
            <a:pPr marL="0" indent="0" algn="ctr">
              <a:buNone/>
            </a:pPr>
            <a:r>
              <a:rPr lang="en-US" sz="9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</a:t>
            </a:r>
            <a:r>
              <a:rPr lang="en-US" sz="9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66160" y="1572768"/>
            <a:ext cx="164592" cy="25603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57016" y="1536192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93392" y="1417320"/>
            <a:ext cx="157276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94A3B8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993392" y="1417320"/>
            <a:ext cx="1572768" cy="5486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1176" y="150876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5117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048256" y="20574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새로고침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48256" y="24688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전 최신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로드 필수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03520" y="1572768"/>
            <a:ext cx="164592" cy="25603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94376" y="1536192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30752" y="1417320"/>
            <a:ext cx="157276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94A3B8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30752" y="1417320"/>
            <a:ext cx="1572768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88536" y="150876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8853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785616" y="20574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입력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85616" y="24688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등록 클릭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작성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40880" y="1572768"/>
            <a:ext cx="164592" cy="25603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31736" y="1536192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68112" y="1417320"/>
            <a:ext cx="157276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94A3B8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68112" y="1417320"/>
            <a:ext cx="1572768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25896" y="150876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2589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522976" y="20574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건 추가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22976" y="24688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[신규 건 추가]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 클릭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205472" y="1417320"/>
            <a:ext cx="157276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94A3B8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205472" y="1417320"/>
            <a:ext cx="1572768" cy="5486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63256" y="15087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6325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260336" y="20574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 저장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260336" y="24688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서버에 최종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반영 완료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6032" y="3090672"/>
            <a:ext cx="863193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18211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변경 흐름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450592" y="3593592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56032" y="3547872"/>
            <a:ext cx="1993392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94A3B8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56032" y="3547872"/>
            <a:ext cx="1993392" cy="54864"/>
          </a:xfrm>
          <a:prstGeom prst="roundRect">
            <a:avLst>
              <a:gd name="adj" fmla="val 50000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24128" y="3602736"/>
            <a:ext cx="457200" cy="45720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24128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347472" y="4133088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목록 클릭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47472" y="4443984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수정할 건을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목록에서 선택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626864" y="3593592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432304" y="3547872"/>
            <a:ext cx="1993392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94A3B8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432304" y="3547872"/>
            <a:ext cx="1993392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00400" y="3602736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2523744" y="4133088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변경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2523744" y="4443984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패널에서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수정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803136" y="3593592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608576" y="3547872"/>
            <a:ext cx="1993392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94A3B8">
                <a:alpha val="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608576" y="3547872"/>
            <a:ext cx="1993392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376672" y="3602736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76672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4700016" y="4133088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패널 저장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4700016" y="4443984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[저장] 클릭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(임시 반영)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784848" y="3547872"/>
            <a:ext cx="1993392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94A3B8">
                <a:alpha val="8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784848" y="3547872"/>
            <a:ext cx="1993392" cy="5486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552944" y="360273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552944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876288" y="4133088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 저장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6876288" y="4443984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[현황 저장]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최종 반영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56032" y="4846320"/>
            <a:ext cx="8631936" cy="237744"/>
          </a:xfrm>
          <a:prstGeom prst="roundRect">
            <a:avLst>
              <a:gd name="adj" fmla="val 30769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20624" y="4846320"/>
            <a:ext cx="8430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패널 [저장] = 브라우저 임시 보관  |  메인 [현황 저장] = 서버 최종 반영  —  두 단계 모두 필수!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85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15568" y="256032"/>
            <a:ext cx="0" cy="475488"/>
          </a:xfrm>
          <a:prstGeom prst="line">
            <a:avLst/>
          </a:prstGeom>
          <a:noFill/>
          <a:ln w="19050">
            <a:solidFill>
              <a:srgbClr val="E6A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0"/>
            <a:ext cx="76809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배송 안내 메시지 공유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전송 4단계 SOP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42416" y="1874520"/>
            <a:ext cx="7059168" cy="0"/>
          </a:xfrm>
          <a:prstGeom prst="line">
            <a:avLst/>
          </a:prstGeom>
          <a:noFill/>
          <a:ln w="25400">
            <a:solidFill>
              <a:srgbClr val="FAE3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463040"/>
            <a:ext cx="1938528" cy="2029968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05256" y="1371600"/>
            <a:ext cx="640080" cy="640080"/>
          </a:xfrm>
          <a:prstGeom prst="ellipse">
            <a:avLst/>
          </a:prstGeom>
          <a:solidFill>
            <a:srgbClr val="FAE300"/>
          </a:solidFill>
          <a:ln w="12700">
            <a:solidFill>
              <a:srgbClr val="FAE300"/>
            </a:solidFill>
            <a:prstDash val="solid"/>
          </a:ln>
          <a:effectLst>
            <a:outerShdw blurRad="50800" dist="25400" dir="2700000" algn="bl" rotWithShape="0">
              <a:srgbClr val="94A3B8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05256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C1E1E"/>
                </a:solidFill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7472" y="2148840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변경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523744"/>
            <a:ext cx="135331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606040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r>
              <a:rPr lang="en-US" sz="1000" b="1" dirty="0">
                <a:solidFill>
                  <a:srgbClr val="FF0000"/>
                </a:solidFill>
                <a:latin typeface="+mn-ea"/>
                <a:cs typeface="Calibri" pitchFamily="34" charset="-120"/>
              </a:rPr>
              <a:t>배송요청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선택 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 입력 → 하단 [저장] 클릭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32304" y="1463040"/>
            <a:ext cx="1938528" cy="2029968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081528" y="1371600"/>
            <a:ext cx="640080" cy="640080"/>
          </a:xfrm>
          <a:prstGeom prst="ellipse">
            <a:avLst/>
          </a:prstGeom>
          <a:solidFill>
            <a:srgbClr val="FAE300"/>
          </a:solidFill>
          <a:ln w="12700">
            <a:solidFill>
              <a:srgbClr val="FAE300"/>
            </a:solidFill>
            <a:prstDash val="solid"/>
          </a:ln>
          <a:effectLst>
            <a:outerShdw blurRad="50800" dist="25400" dir="2700000" algn="bl" rotWithShape="0">
              <a:srgbClr val="94A3B8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081528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C1E1E"/>
                </a:solidFill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523744" y="2148840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팝업 확인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24912" y="2523744"/>
            <a:ext cx="135331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3744" y="2606040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안내문 자동 생성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팝업창에서 내용 확인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08576" y="1463040"/>
            <a:ext cx="1938528" cy="2029968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57800" y="1371600"/>
            <a:ext cx="640080" cy="640080"/>
          </a:xfrm>
          <a:prstGeom prst="ellipse">
            <a:avLst/>
          </a:prstGeom>
          <a:solidFill>
            <a:srgbClr val="FAE300"/>
          </a:solidFill>
          <a:ln w="12700">
            <a:solidFill>
              <a:srgbClr val="FAE300"/>
            </a:solidFill>
            <a:prstDash val="solid"/>
          </a:ln>
          <a:effectLst>
            <a:outerShdw blurRad="50800" dist="25400" dir="2700000" algn="bl" rotWithShape="0">
              <a:srgbClr val="94A3B8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578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C1E1E"/>
                </a:solidFill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700016" y="2148840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안내문 복사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01184" y="2523744"/>
            <a:ext cx="135331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2606040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[복사] 버튼 클릭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클립보드에 자동 복사됨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84848" y="1463040"/>
            <a:ext cx="1938528" cy="2029968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34072" y="1371600"/>
            <a:ext cx="640080" cy="640080"/>
          </a:xfrm>
          <a:prstGeom prst="ellipse">
            <a:avLst/>
          </a:prstGeom>
          <a:solidFill>
            <a:srgbClr val="FAE300"/>
          </a:solidFill>
          <a:ln w="12700">
            <a:solidFill>
              <a:srgbClr val="FAE300"/>
            </a:solidFill>
            <a:prstDash val="solid"/>
          </a:ln>
          <a:effectLst>
            <a:outerShdw blurRad="50800" dist="25400" dir="2700000" algn="bl" rotWithShape="0">
              <a:srgbClr val="94A3B8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34072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C1E1E"/>
                </a:solidFill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876288" y="2148840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전달 실행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077456" y="2523744"/>
            <a:ext cx="135331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76288" y="2606040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[카톡 전달] 클릭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또는 직접 붙여넣기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" y="3675888"/>
            <a:ext cx="4206240" cy="1335024"/>
          </a:xfrm>
          <a:prstGeom prst="roundRect">
            <a:avLst>
              <a:gd name="adj" fmla="val 6849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3749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팁 — 다시 보내기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38912" y="4059936"/>
            <a:ext cx="3822192" cy="0"/>
          </a:xfrm>
          <a:prstGeom prst="line">
            <a:avLst/>
          </a:prstGeom>
          <a:noFill/>
          <a:ln w="762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411480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</a:t>
            </a: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변경을  배송요청으로 변경 후 </a:t>
            </a:r>
            <a:r>
              <a:rPr lang="en-US" sz="100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</a:t>
            </a: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>
                <a:solidFill>
                  <a:srgbClr val="1E293B"/>
                </a:solidFill>
                <a:latin typeface="+mn-ea"/>
                <a:cs typeface="Calibri" pitchFamily="34" charset="-120"/>
              </a:rPr>
              <a:t>패널의 [📨 카카오 배송완료 안내 다시 보내기]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버튼으로 언제든 팝업을 호출할 수 있습니다.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82312" y="3675888"/>
            <a:ext cx="4206240" cy="1335024"/>
          </a:xfrm>
          <a:prstGeom prst="roundRect">
            <a:avLst>
              <a:gd name="adj" fmla="val 6849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65192" y="3749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주의 — 수동 선택 필요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965192" y="4059936"/>
            <a:ext cx="3822192" cy="0"/>
          </a:xfrm>
          <a:prstGeom prst="line">
            <a:avLst/>
          </a:prstGeom>
          <a:noFill/>
          <a:ln w="762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65192" y="411480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창이 뜨면 메시지를 보낼 채팅방을 사용자가 직접 마우스로 선택해야 합니다. 시스템이 자동으로 단톡방에 전송하는 기능이 아닙니다.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85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04+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15568" y="256032"/>
            <a:ext cx="0" cy="475488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0"/>
            <a:ext cx="76809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보호 — 반드시 지켜야 할 주의사항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blurRad="50800" dist="25400" dir="2700000" algn="bl" rotWithShape="0">
              <a:srgbClr val="94A3B8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3192" y="12801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🚫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05840" y="128016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중 새로고침 금지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5840" y="1664208"/>
            <a:ext cx="3291840" cy="0"/>
          </a:xfrm>
          <a:prstGeom prst="line">
            <a:avLst/>
          </a:prstGeom>
          <a:noFill/>
          <a:ln w="762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73736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 사항을 입력하는 도중 </a:t>
            </a: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[현황 저장]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하지 않고 F5를 누르면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 중이던 모든 텍스트와 상태값이 즉시 삭제됩니다.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82312" y="1115568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blurRad="50800" dist="25400" dir="2700000" algn="bl" rotWithShape="0">
              <a:srgbClr val="94A3B8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19472" y="12801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🚫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532120" y="128016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ko-KR" altLang="en-US" sz="125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전용</a:t>
            </a:r>
            <a:r>
              <a:rPr lang="en-US" altLang="ko-KR" sz="125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r>
              <a:rPr lang="en-US" sz="1250" b="1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오래된</a:t>
            </a:r>
            <a:r>
              <a:rPr lang="en-US" sz="125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업로드 금지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532120" y="1664208"/>
            <a:ext cx="3291840" cy="0"/>
          </a:xfrm>
          <a:prstGeom prst="line">
            <a:avLst/>
          </a:prstGeom>
          <a:noFill/>
          <a:ln w="762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46904" y="173736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구버전 엑셀을 불러와 [현황 저장]하면 실시간으로 관리되던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</a:t>
            </a:r>
            <a:r>
              <a:rPr lang="en-US" sz="1000" dirty="0"/>
              <a:t> </a:t>
            </a:r>
            <a:r>
              <a:rPr lang="en-US" sz="100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</a:t>
            </a: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데이터로 덮어써지는 사고가 발생합니다.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944368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2700000" algn="bl" rotWithShape="0">
              <a:srgbClr val="94A3B8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3192" y="31089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005840" y="310896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단계 누락 금지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05840" y="3493008"/>
            <a:ext cx="3291840" cy="0"/>
          </a:xfrm>
          <a:prstGeom prst="line">
            <a:avLst/>
          </a:prstGeom>
          <a:noFill/>
          <a:ln w="762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356616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패널의 [저장]은 브라우저 임시 보관입니다.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상단의 </a:t>
            </a: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[현황 저장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]을 누락하면 서버 DB에 반영되지 않습니다.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82312" y="2944368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2700000" algn="bl" rotWithShape="0">
              <a:srgbClr val="94A3B8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19472" y="31089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532120" y="310896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수정 시 소통 필수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532120" y="3493008"/>
            <a:ext cx="3291840" cy="0"/>
          </a:xfrm>
          <a:prstGeom prst="line">
            <a:avLst/>
          </a:prstGeom>
          <a:noFill/>
          <a:ln w="762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46904" y="356616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명이 동시에 같은 건을 수정하면 가장 마지막에 [현황 저장]을 </a:t>
            </a:r>
            <a:r>
              <a:rPr lang="en-US" sz="100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누른</a:t>
            </a:r>
            <a:r>
              <a:rPr lang="en-US" sz="1000" dirty="0"/>
              <a:t> </a:t>
            </a:r>
            <a:r>
              <a:rPr lang="en-US" sz="100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사람의</a:t>
            </a: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내용만 남습니다. 중요 건은 서로 알리고 작업하세요.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4864608"/>
            <a:ext cx="8631936" cy="237744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4864608"/>
            <a:ext cx="8430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 업무 종료 시 로그아웃 권장 — 다음 접속자가 최신 DB를 확실히 불러올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5486400" cy="5486400"/>
          </a:xfrm>
          <a:prstGeom prst="ellipse">
            <a:avLst/>
          </a:prstGeom>
          <a:solidFill>
            <a:srgbClr val="1A3A6E">
              <a:alpha val="45000"/>
            </a:srgbClr>
          </a:solidFill>
          <a:ln w="12700">
            <a:solidFill>
              <a:srgbClr val="1A3A6E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4114800" cy="41148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0"/>
            <a:ext cx="685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115568" y="256032"/>
            <a:ext cx="0" cy="475488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0"/>
            <a:ext cx="76809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작업 충돌 감지 시스템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789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충돌이 발생하는 상황과 시스템 자동 대응 흐름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463040"/>
            <a:ext cx="1536192" cy="987552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" y="1463040"/>
            <a:ext cx="1536192" cy="9875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ko-KR" altLang="en-US" sz="9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</a:t>
            </a:r>
            <a:r>
              <a:rPr lang="en-US" altLang="ko-KR" sz="9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9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</a:t>
            </a:r>
            <a:r>
              <a:rPr lang="en-US" sz="9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 A)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10512" y="18105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993392" y="1463040"/>
            <a:ext cx="1536192" cy="987552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993392" y="1463040"/>
            <a:ext cx="1536192" cy="9875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ko-KR" altLang="en-US" sz="9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</a:t>
            </a:r>
            <a:r>
              <a:rPr lang="en-US" sz="9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9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</a:t>
            </a:r>
            <a:r>
              <a:rPr lang="en-US" sz="9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 A)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47872" y="18105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30752" y="1463040"/>
            <a:ext cx="1536192" cy="987552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30752" y="1463040"/>
            <a:ext cx="1536192" cy="9875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ko-KR" altLang="en-US" sz="9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먼저 현황저장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버전 B 생성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285232" y="18105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68112" y="1463040"/>
            <a:ext cx="1536192" cy="987552"/>
          </a:xfrm>
          <a:prstGeom prst="roundRect">
            <a:avLst>
              <a:gd name="adj" fmla="val 11111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68112" y="1463040"/>
            <a:ext cx="1536192" cy="9875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ko-KR" altLang="en-US" sz="9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현황</a:t>
            </a:r>
            <a:r>
              <a:rPr lang="en-US" sz="9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시도</a:t>
            </a:r>
            <a:r>
              <a:rPr lang="en-US" sz="9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ko-KR" altLang="en-US" sz="9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 불일치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22592" y="18105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05472" y="1463040"/>
            <a:ext cx="1536192" cy="987552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05472" y="1463040"/>
            <a:ext cx="1536192" cy="9875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경고 알림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데이터 로드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2633472"/>
            <a:ext cx="2743200" cy="1444752"/>
          </a:xfrm>
          <a:prstGeom prst="roundRect">
            <a:avLst>
              <a:gd name="adj" fmla="val 7595"/>
            </a:avLst>
          </a:prstGeom>
          <a:solidFill>
            <a:srgbClr val="1A3A6E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93192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41832" y="2688336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차단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41832" y="3054096"/>
            <a:ext cx="1901952" cy="0"/>
          </a:xfrm>
          <a:prstGeom prst="line">
            <a:avLst/>
          </a:prstGeom>
          <a:noFill/>
          <a:ln w="1016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3127248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버전이 다르면 서버에 저장되지 않습니다.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작업 내용은 서버에 반영되지 않은 상태입니다.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200400" y="2633472"/>
            <a:ext cx="2743200" cy="1444752"/>
          </a:xfrm>
          <a:prstGeom prst="roundRect">
            <a:avLst>
              <a:gd name="adj" fmla="val 7595"/>
            </a:avLst>
          </a:prstGeom>
          <a:solidFill>
            <a:srgbClr val="1A3A6E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33756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886200" y="2688336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데이터 로드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886200" y="3054096"/>
            <a:ext cx="1901952" cy="0"/>
          </a:xfrm>
          <a:prstGeom prst="line">
            <a:avLst/>
          </a:prstGeom>
          <a:noFill/>
          <a:ln w="1016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3127248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5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</a:t>
            </a:r>
            <a:r>
              <a:rPr lang="ko-KR" altLang="en-US" sz="95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새로고침</a:t>
            </a:r>
            <a:r>
              <a:rPr lang="en-US" sz="95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버튼을 누르면 서버 최신 데이터를 자동으로 </a:t>
            </a:r>
            <a:r>
              <a:rPr lang="en-US" sz="9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불러옵니다</a:t>
            </a:r>
            <a:r>
              <a:rPr lang="en-US" sz="95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.(1-2</a:t>
            </a:r>
            <a:r>
              <a:rPr lang="ko-KR" altLang="en-US" sz="95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 클릭 권장</a:t>
            </a:r>
            <a:r>
              <a:rPr lang="en-US" altLang="ko-KR" sz="95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저장되지 않은 내 작업은 사라집니다.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144768" y="2633472"/>
            <a:ext cx="2743200" cy="1444752"/>
          </a:xfrm>
          <a:prstGeom prst="roundRect">
            <a:avLst>
              <a:gd name="adj" fmla="val 7595"/>
            </a:avLst>
          </a:prstGeom>
          <a:solidFill>
            <a:srgbClr val="1A3A6E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81928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✏️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830568" y="2688336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재작업 후 저장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830568" y="3054096"/>
            <a:ext cx="1901952" cy="0"/>
          </a:xfrm>
          <a:prstGeom prst="line">
            <a:avLst/>
          </a:prstGeom>
          <a:noFill/>
          <a:ln w="1016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3127248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데이터 로드 후 변경사항을 다시 입력하고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[현황 저장]</a:t>
            </a: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눌러 최종 반영하세요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6032" y="4206240"/>
            <a:ext cx="8631936" cy="804672"/>
          </a:xfrm>
          <a:prstGeom prst="roundRect">
            <a:avLst>
              <a:gd name="adj" fmla="val 13636"/>
            </a:avLst>
          </a:prstGeom>
          <a:solidFill>
            <a:srgbClr val="1A3A6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2702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충돌 예방 3원칙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4572000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작업 전 반드시 [서버 새로고침]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273552" y="4572000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동시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작업자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있으면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인지요망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089904" y="4572000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수정 후 빠르게 [현황 저장] 완료</a:t>
            </a:r>
            <a:endParaRPr lang="en-US" sz="1100" dirty="0"/>
          </a:p>
        </p:txBody>
      </p:sp>
      <p:sp>
        <p:nvSpPr>
          <p:cNvPr id="45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6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47" name="Text 2"/>
          <p:cNvSpPr/>
          <p:nvPr/>
        </p:nvSpPr>
        <p:spPr>
          <a:xfrm>
            <a:off x="384048" y="0"/>
            <a:ext cx="685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smtClean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48" name="Shape 3"/>
          <p:cNvSpPr/>
          <p:nvPr/>
        </p:nvSpPr>
        <p:spPr>
          <a:xfrm>
            <a:off x="1115568" y="256032"/>
            <a:ext cx="0" cy="475488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49" name="Text 4"/>
          <p:cNvSpPr/>
          <p:nvPr/>
        </p:nvSpPr>
        <p:spPr>
          <a:xfrm>
            <a:off x="1261872" y="0"/>
            <a:ext cx="76809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보호 — 반드시 지켜야 할 주의사항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85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15568" y="256032"/>
            <a:ext cx="0" cy="475488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0"/>
            <a:ext cx="76809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발생 시 대처 방법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0"/>
            <a:ext cx="685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smtClean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115568" y="256032"/>
            <a:ext cx="0" cy="475488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1872" y="0"/>
            <a:ext cx="76809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발생 시 대처 방법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56032" y="1115568"/>
            <a:ext cx="8631936" cy="1133856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94A3B8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1115568"/>
            <a:ext cx="54864" cy="113385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1207008"/>
            <a:ext cx="1828800" cy="950976"/>
          </a:xfrm>
          <a:prstGeom prst="roundRect">
            <a:avLst>
              <a:gd name="adj" fmla="val 9615"/>
            </a:avLst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2070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👁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84048" y="17190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내용이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남에게 안 보임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59152" y="129844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59152" y="1298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06624" y="1280160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메인 상단의 [현황 저장]을 눌렀는지 확인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359152" y="175564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59152" y="175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06624" y="1737360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상대방이 자신의 화면에서 [서버 새로고침]을 눌렀는지 확인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56032" y="2377440"/>
            <a:ext cx="8631936" cy="1133856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94A3B8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377440"/>
            <a:ext cx="54864" cy="113385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2468880"/>
            <a:ext cx="1828800" cy="950976"/>
          </a:xfrm>
          <a:prstGeom prst="roundRect">
            <a:avLst>
              <a:gd name="adj" fmla="val 9615"/>
            </a:avLst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2468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🗑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84048" y="298094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수정한 내용이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사라짐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59152" y="256032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59152" y="2560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06624" y="2542032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전에 F5를 눌렀거나 브라우저를 닫았는지 확인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359152" y="301752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59152" y="3017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06624" y="2999232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사람이 이전 엑셀 데이터로 덮어쓰기 저장했는지 확인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56032" y="3639312"/>
            <a:ext cx="8631936" cy="1133856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94A3B8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3639312"/>
            <a:ext cx="54864" cy="1133856"/>
          </a:xfrm>
          <a:prstGeom prst="roundRect">
            <a:avLst>
              <a:gd name="adj" fmla="val 50000"/>
            </a:avLst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" y="3730752"/>
            <a:ext cx="1828800" cy="950976"/>
          </a:xfrm>
          <a:prstGeom prst="roundRect">
            <a:avLst>
              <a:gd name="adj" fmla="val 9615"/>
            </a:avLst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7307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384048" y="424281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 공유창이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 뜸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59152" y="382219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59152" y="3822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06624" y="3803904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상태가 정확히 '배송요청' </a:t>
            </a:r>
            <a:r>
              <a:rPr lang="en-US" sz="115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</a:t>
            </a:r>
            <a:r>
              <a:rPr lang="en-US" sz="11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359152" y="427939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59152" y="4279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06624" y="4261104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 상단의 팝업 차단 설정이 되어있는지 확인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256032" y="4892040"/>
            <a:ext cx="8631936" cy="219456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" y="4892040"/>
            <a:ext cx="8430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 위 방법으로 해결되지 않으면 [서버 새로고침] 후 처음부터 다시 작업하는 것이 가장 빠릅니다.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85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smtClean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15568" y="256032"/>
            <a:ext cx="0" cy="47548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0"/>
            <a:ext cx="76809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운영 전 최종 체크리스트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1097280"/>
            <a:ext cx="4160520" cy="3858768"/>
          </a:xfrm>
          <a:prstGeom prst="roundRect">
            <a:avLst>
              <a:gd name="adj" fmla="val 331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94A3B8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097280"/>
            <a:ext cx="4160520" cy="457200"/>
          </a:xfrm>
          <a:prstGeom prst="roundRect">
            <a:avLst>
              <a:gd name="adj" fmla="val 28000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097280"/>
            <a:ext cx="109728" cy="45720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관리자 점검 사항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" y="175564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7824" y="1737360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엑셀 파일 여부 확인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77824" y="2011680"/>
            <a:ext cx="3401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공유폴더의 마스터 파일 날짜 확인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8912" y="253288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7824" y="2514600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권한 로그인 및 데이터 로드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7824" y="2788920"/>
            <a:ext cx="3401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새로고침 후 건수 확인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8912" y="331012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7824" y="3291840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 저장 후 데이터 건수 대조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77824" y="3566160"/>
            <a:ext cx="3401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완료 메시지의 건수 대조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8912" y="408736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4087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77824" y="4069080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팀원들 간 같은 현황 유지 확인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77824" y="4343400"/>
            <a:ext cx="3401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 화면에서 새로고침 후 비교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27448" y="1097280"/>
            <a:ext cx="4160520" cy="3858768"/>
          </a:xfrm>
          <a:prstGeom prst="roundRect">
            <a:avLst>
              <a:gd name="adj" fmla="val 331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94A3B8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27448" y="1097280"/>
            <a:ext cx="4160520" cy="457200"/>
          </a:xfrm>
          <a:prstGeom prst="roundRect">
            <a:avLst>
              <a:gd name="adj" fmla="val 2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27448" y="1097280"/>
            <a:ext cx="109728" cy="457200"/>
          </a:xfrm>
          <a:prstGeom prst="round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사용자 테스트 사항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19472" y="175564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E6F4F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58384" y="1737360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PC/모바일 교차 새로고침 테스트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358384" y="2011680"/>
            <a:ext cx="3401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모바일에서</a:t>
            </a:r>
            <a:r>
              <a:rPr lang="ko-KR" altLang="en-US" sz="9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작업 시 </a:t>
            </a:r>
            <a:r>
              <a:rPr lang="en-US" altLang="ko-KR" sz="9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r>
              <a:rPr lang="en-US" sz="9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기기에서</a:t>
            </a:r>
            <a:r>
              <a:rPr lang="en-US" sz="9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데이터 확인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19472" y="253288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E6F4F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58384" y="2514600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 후 현황 저장 성공 여부 확인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358384" y="2788920"/>
            <a:ext cx="3401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완료 알림 메시지 확인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919472" y="331012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E6F4F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300" b="1" dirty="0" smtClean="0">
                <a:solidFill>
                  <a:srgbClr val="0D9488"/>
                </a:solidFill>
              </a:rPr>
              <a:t>✓</a:t>
            </a:r>
            <a:endParaRPr lang="en-US" altLang="ko-KR" sz="1300" dirty="0"/>
          </a:p>
        </p:txBody>
      </p:sp>
      <p:sp>
        <p:nvSpPr>
          <p:cNvPr id="41" name="Text 39"/>
          <p:cNvSpPr/>
          <p:nvPr/>
        </p:nvSpPr>
        <p:spPr>
          <a:xfrm>
            <a:off x="5358384" y="3291840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이력 탭에 내 이름 기록 확인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358384" y="3566160"/>
            <a:ext cx="3401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변경이력 다운로드 후 내역 검토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7894543" y="3760332"/>
            <a:ext cx="3291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48" name="Text 39"/>
          <p:cNvSpPr/>
          <p:nvPr/>
        </p:nvSpPr>
        <p:spPr>
          <a:xfrm>
            <a:off x="5364234" y="3924924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150" b="1" dirty="0" smtClean="0"/>
              <a:t>다른 브라우저</a:t>
            </a:r>
            <a:r>
              <a:rPr lang="en-US" altLang="ko-KR" sz="1150" b="1" dirty="0" smtClean="0"/>
              <a:t>(</a:t>
            </a:r>
            <a:r>
              <a:rPr lang="ko-KR" altLang="en-US" sz="1150" b="1" dirty="0" smtClean="0"/>
              <a:t>크롬</a:t>
            </a:r>
            <a:r>
              <a:rPr lang="en-US" altLang="ko-KR" sz="1150" b="1" dirty="0" smtClean="0"/>
              <a:t>, </a:t>
            </a:r>
            <a:r>
              <a:rPr lang="ko-KR" altLang="en-US" sz="1150" b="1" dirty="0" err="1" smtClean="0"/>
              <a:t>엣지</a:t>
            </a:r>
            <a:r>
              <a:rPr lang="en-US" altLang="ko-KR" sz="1150" b="1" dirty="0" smtClean="0"/>
              <a:t>) </a:t>
            </a:r>
            <a:r>
              <a:rPr lang="ko-KR" altLang="en-US" sz="1150" b="1" dirty="0" smtClean="0"/>
              <a:t>혼용 자제</a:t>
            </a:r>
            <a:endParaRPr lang="en-US" sz="1150" b="1" dirty="0"/>
          </a:p>
        </p:txBody>
      </p:sp>
      <p:sp>
        <p:nvSpPr>
          <p:cNvPr id="49" name="Text 40"/>
          <p:cNvSpPr/>
          <p:nvPr/>
        </p:nvSpPr>
        <p:spPr>
          <a:xfrm>
            <a:off x="5364234" y="4199244"/>
            <a:ext cx="3401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latin typeface="+mj-lt"/>
              </a:rPr>
              <a:t>A </a:t>
            </a:r>
            <a:r>
              <a:rPr lang="ko-KR" altLang="en-US" sz="900" dirty="0" smtClean="0">
                <a:latin typeface="+mj-lt"/>
              </a:rPr>
              <a:t>의 이름으로 로그인 을 크롬</a:t>
            </a:r>
            <a:r>
              <a:rPr lang="en-US" altLang="ko-KR" sz="900" dirty="0" smtClean="0">
                <a:latin typeface="+mj-lt"/>
              </a:rPr>
              <a:t>, </a:t>
            </a:r>
            <a:r>
              <a:rPr lang="ko-KR" altLang="en-US" sz="900" dirty="0" err="1" smtClean="0">
                <a:latin typeface="+mj-lt"/>
              </a:rPr>
              <a:t>엣지</a:t>
            </a:r>
            <a:r>
              <a:rPr lang="ko-KR" altLang="en-US" sz="900" dirty="0" smtClean="0">
                <a:latin typeface="+mj-lt"/>
              </a:rPr>
              <a:t> 둘 중 하나의 브라우저 에서만 작업 권장 </a:t>
            </a:r>
            <a:r>
              <a:rPr lang="en-US" altLang="ko-KR" sz="900" dirty="0" smtClean="0">
                <a:latin typeface="+mj-lt"/>
              </a:rPr>
              <a:t>(</a:t>
            </a:r>
            <a:r>
              <a:rPr lang="ko-KR" altLang="en-US" sz="900" dirty="0" smtClean="0">
                <a:latin typeface="+mj-lt"/>
              </a:rPr>
              <a:t>양쪽에서 동시에 사용 자제</a:t>
            </a:r>
            <a:r>
              <a:rPr lang="en-US" altLang="ko-KR" sz="900" dirty="0" smtClean="0">
                <a:latin typeface="+mj-lt"/>
              </a:rPr>
              <a:t>)</a:t>
            </a:r>
            <a:endParaRPr lang="en-US" sz="900" dirty="0">
              <a:latin typeface="+mj-lt"/>
            </a:endParaRPr>
          </a:p>
        </p:txBody>
      </p:sp>
      <p:sp>
        <p:nvSpPr>
          <p:cNvPr id="54" name="Shape 37"/>
          <p:cNvSpPr/>
          <p:nvPr/>
        </p:nvSpPr>
        <p:spPr>
          <a:xfrm>
            <a:off x="4919472" y="4016364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E6F4F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55" name="Text 38"/>
          <p:cNvSpPr/>
          <p:nvPr/>
        </p:nvSpPr>
        <p:spPr>
          <a:xfrm>
            <a:off x="4919472" y="3995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300" b="1" dirty="0" smtClean="0">
                <a:solidFill>
                  <a:srgbClr val="0D9488"/>
                </a:solidFill>
              </a:rPr>
              <a:t>✓</a:t>
            </a:r>
            <a:endParaRPr lang="en-US" altLang="ko-KR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6858000" cy="6858000"/>
          </a:xfrm>
          <a:prstGeom prst="ellipse">
            <a:avLst/>
          </a:prstGeom>
          <a:solidFill>
            <a:srgbClr val="1A3A6E">
              <a:alpha val="50000"/>
            </a:srgbClr>
          </a:solidFill>
          <a:ln w="12700">
            <a:solidFill>
              <a:srgbClr val="1A3A6E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475488"/>
            <a:ext cx="64008" cy="3474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3891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요약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이것만은 꼭 지켜주세요!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8321040" cy="822960"/>
          </a:xfrm>
          <a:prstGeom prst="roundRect">
            <a:avLst>
              <a:gd name="adj" fmla="val 11111"/>
            </a:avLst>
          </a:prstGeom>
          <a:solidFill>
            <a:srgbClr val="1A3A6E"/>
          </a:solidFill>
          <a:ln w="1016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709928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709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8448" y="1636776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전 반드시 [서버 새로고침]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0116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항상 최신 데이터에서 시작하세요.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532888"/>
            <a:ext cx="8321040" cy="822960"/>
          </a:xfrm>
          <a:prstGeom prst="roundRect">
            <a:avLst>
              <a:gd name="adj" fmla="val 11111"/>
            </a:avLst>
          </a:prstGeom>
          <a:solidFill>
            <a:srgbClr val="1A3A6E"/>
          </a:solidFill>
          <a:ln w="10160">
            <a:solidFill>
              <a:srgbClr val="2563EB"/>
            </a:solidFill>
            <a:prstDash val="solid"/>
          </a:ln>
          <a:effectLst>
            <a:outerShdw blurRad="101600" dist="381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2670048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670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98448" y="2596896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저장 후 [현황 저장] 필수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98448" y="29718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단계 저장을 모두 완료해야 서버에 반영됩니다.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493008"/>
            <a:ext cx="8321040" cy="822960"/>
          </a:xfrm>
          <a:prstGeom prst="roundRect">
            <a:avLst>
              <a:gd name="adj" fmla="val 11111"/>
            </a:avLst>
          </a:prstGeom>
          <a:solidFill>
            <a:srgbClr val="1A3A6E"/>
          </a:solidFill>
          <a:ln w="10160">
            <a:solidFill>
              <a:srgbClr val="F97316"/>
            </a:solidFill>
            <a:prstDash val="solid"/>
          </a:ln>
          <a:effectLst>
            <a:outerShdw blurRad="101600" dist="381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" y="3630168"/>
            <a:ext cx="548640" cy="5486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98448" y="3557016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작업자 있으면 소통 먼저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98448" y="39319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 발생 시 작업 내용이 사라질 수 있습니다.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590288"/>
            <a:ext cx="8321040" cy="0"/>
          </a:xfrm>
          <a:prstGeom prst="line">
            <a:avLst/>
          </a:prstGeom>
          <a:noFill/>
          <a:ln w="12700">
            <a:solidFill>
              <a:srgbClr val="1A3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681728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저장 버튼을 누르지 않으면 당신의 소중한 작업은 서버에 전달되지 않습니다 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502920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FITI 전략구매팀  |  문의사항 발생 시 담당자에게 연락주세요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1074</Words>
  <Application>Microsoft Office PowerPoint</Application>
  <PresentationFormat>화면 슬라이드 쇼(16:9)</PresentationFormat>
  <Paragraphs>270</Paragraphs>
  <Slides>10</Slides>
  <Notes>10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화환 배송 관리 시스템 메뉴얼</dc:title>
  <dc:subject>PptxGenJS Presentation</dc:subject>
  <dc:creator>PptxGenJS</dc:creator>
  <cp:lastModifiedBy>운영지원팀 공용</cp:lastModifiedBy>
  <cp:revision>6</cp:revision>
  <dcterms:created xsi:type="dcterms:W3CDTF">2026-06-12T04:21:02Z</dcterms:created>
  <dcterms:modified xsi:type="dcterms:W3CDTF">2026-06-12T07:44:23Z</dcterms:modified>
</cp:coreProperties>
</file>